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adley" charset="1" panose="00000500000000000000"/>
      <p:regular r:id="rId17"/>
    </p:embeddedFont>
    <p:embeddedFont>
      <p:font typeface="Carlito" charset="1" panose="020F0502020204030204"/>
      <p:regular r:id="rId18"/>
    </p:embeddedFont>
    <p:embeddedFont>
      <p:font typeface="Radley Italics" charset="1" panose="00000500000000000000"/>
      <p:regular r:id="rId19"/>
    </p:embeddedFont>
    <p:embeddedFont>
      <p:font typeface="Carlito Bold"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81575" y="3352800"/>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329" t="0" r="-329" b="0"/>
              </a:stretch>
            </a:blipFill>
          </p:spPr>
        </p:sp>
      </p:grpSp>
      <p:grpSp>
        <p:nvGrpSpPr>
          <p:cNvPr name="Group 4" id="4"/>
          <p:cNvGrpSpPr/>
          <p:nvPr/>
        </p:nvGrpSpPr>
        <p:grpSpPr>
          <a:xfrm rot="0">
            <a:off x="666750" y="666750"/>
            <a:ext cx="16954500" cy="2172955"/>
            <a:chOff x="0" y="0"/>
            <a:chExt cx="22606000" cy="2897274"/>
          </a:xfrm>
        </p:grpSpPr>
        <p:sp>
          <p:nvSpPr>
            <p:cNvPr name="AutoShape 5" id="5"/>
            <p:cNvSpPr/>
            <p:nvPr/>
          </p:nvSpPr>
          <p:spPr>
            <a:xfrm>
              <a:off x="0" y="2884574"/>
              <a:ext cx="22606000" cy="0"/>
            </a:xfrm>
            <a:prstGeom prst="line">
              <a:avLst/>
            </a:prstGeom>
            <a:ln cap="flat" w="25400">
              <a:solidFill>
                <a:srgbClr val="2C3E50"/>
              </a:solidFill>
              <a:prstDash val="solid"/>
              <a:headEnd type="none" len="sm" w="sm"/>
              <a:tailEnd type="none" len="sm" w="sm"/>
            </a:ln>
          </p:spPr>
        </p:sp>
        <p:sp>
          <p:nvSpPr>
            <p:cNvPr name="TextBox 6" id="6"/>
            <p:cNvSpPr txBox="true"/>
            <p:nvPr/>
          </p:nvSpPr>
          <p:spPr>
            <a:xfrm rot="0">
              <a:off x="0" y="238125"/>
              <a:ext cx="22606000" cy="2247618"/>
            </a:xfrm>
            <a:prstGeom prst="rect">
              <a:avLst/>
            </a:prstGeom>
          </p:spPr>
          <p:txBody>
            <a:bodyPr anchor="t" rtlCol="false" tIns="0" lIns="0" bIns="0" rIns="0">
              <a:spAutoFit/>
            </a:bodyPr>
            <a:lstStyle/>
            <a:p>
              <a:pPr algn="ctr" marL="0" indent="0" lvl="0">
                <a:lnSpc>
                  <a:spcPts val="12272"/>
                </a:lnSpc>
              </a:pPr>
              <a:r>
                <a:rPr lang="en-US" sz="12272" spc="-245" u="none">
                  <a:solidFill>
                    <a:srgbClr val="2C3E50"/>
                  </a:solidFill>
                  <a:latin typeface="Radley"/>
                  <a:ea typeface="Radley"/>
                  <a:cs typeface="Radley"/>
                  <a:sym typeface="Radley"/>
                </a:rPr>
                <a:t>KPI, Metrics, Dim, Fact</a:t>
              </a:r>
            </a:p>
          </p:txBody>
        </p:sp>
      </p:grpSp>
      <p:sp>
        <p:nvSpPr>
          <p:cNvPr name="TextBox 7" id="7"/>
          <p:cNvSpPr txBox="true"/>
          <p:nvPr/>
        </p:nvSpPr>
        <p:spPr>
          <a:xfrm rot="0">
            <a:off x="13611225" y="9275446"/>
            <a:ext cx="4010025" cy="344804"/>
          </a:xfrm>
          <a:prstGeom prst="rect">
            <a:avLst/>
          </a:prstGeom>
        </p:spPr>
        <p:txBody>
          <a:bodyPr anchor="t" rtlCol="false" tIns="0" lIns="0" bIns="0" rIns="0">
            <a:spAutoFit/>
          </a:bodyPr>
          <a:lstStyle/>
          <a:p>
            <a:pPr algn="r" marL="0" indent="0" lvl="0">
              <a:lnSpc>
                <a:spcPts val="2520"/>
              </a:lnSpc>
              <a:spcBef>
                <a:spcPct val="0"/>
              </a:spcBef>
            </a:pPr>
            <a:r>
              <a:rPr lang="en-US" sz="1800" spc="239">
                <a:solidFill>
                  <a:srgbClr val="2C3E50"/>
                </a:solidFill>
                <a:latin typeface="Carlito"/>
                <a:ea typeface="Carlito"/>
                <a:cs typeface="Carlito"/>
                <a:sym typeface="Carlito"/>
              </a:rPr>
              <a:t>DATA ANALYST</a:t>
            </a:r>
          </a:p>
        </p:txBody>
      </p:sp>
      <p:sp>
        <p:nvSpPr>
          <p:cNvPr name="TextBox 8" id="8"/>
          <p:cNvSpPr txBox="true"/>
          <p:nvPr/>
        </p:nvSpPr>
        <p:spPr>
          <a:xfrm rot="0">
            <a:off x="666750" y="9323705"/>
            <a:ext cx="4010025" cy="296545"/>
          </a:xfrm>
          <a:prstGeom prst="rect">
            <a:avLst/>
          </a:prstGeom>
        </p:spPr>
        <p:txBody>
          <a:bodyPr anchor="t" rtlCol="false" tIns="0" lIns="0" bIns="0" rIns="0">
            <a:spAutoFit/>
          </a:bodyPr>
          <a:lstStyle/>
          <a:p>
            <a:pPr algn="l" marL="0" indent="0" lvl="0">
              <a:lnSpc>
                <a:spcPts val="2299"/>
              </a:lnSpc>
            </a:pPr>
            <a:r>
              <a:rPr lang="en-US" sz="2299" i="true">
                <a:solidFill>
                  <a:srgbClr val="2980B9"/>
                </a:solidFill>
                <a:latin typeface="Radley Italics"/>
                <a:ea typeface="Radley Italics"/>
                <a:cs typeface="Radley Italics"/>
                <a:sym typeface="Radley Italics"/>
              </a:rPr>
              <a:t>shaxa_dev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7230865" cy="6381750"/>
            <a:chOff x="0" y="0"/>
            <a:chExt cx="9641153" cy="8509000"/>
          </a:xfrm>
        </p:grpSpPr>
        <p:sp>
          <p:nvSpPr>
            <p:cNvPr name="TextBox 5" id="5"/>
            <p:cNvSpPr txBox="true"/>
            <p:nvPr/>
          </p:nvSpPr>
          <p:spPr>
            <a:xfrm rot="0">
              <a:off x="26326" y="57150"/>
              <a:ext cx="9614826" cy="26792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2C3E50"/>
                  </a:solidFill>
                  <a:latin typeface="Radley Italics"/>
                  <a:ea typeface="Radley Italics"/>
                  <a:cs typeface="Radley Italics"/>
                  <a:sym typeface="Radley Italics"/>
                </a:rPr>
                <a:t>Muhim Tushunchalar</a:t>
              </a:r>
            </a:p>
          </p:txBody>
        </p:sp>
        <p:sp>
          <p:nvSpPr>
            <p:cNvPr name="TextBox 6" id="6"/>
            <p:cNvSpPr txBox="true"/>
            <p:nvPr/>
          </p:nvSpPr>
          <p:spPr>
            <a:xfrm rot="0">
              <a:off x="26326" y="3708400"/>
              <a:ext cx="9614826" cy="20955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2980B9"/>
                  </a:solidFill>
                  <a:latin typeface="Radley"/>
                  <a:ea typeface="Radley"/>
                  <a:cs typeface="Radley"/>
                  <a:sym typeface="Radley"/>
                </a:rPr>
                <a:t>Power BI’da KPI, Metrics, Dimensions va Facts tushunchalarini o‘rganish</a:t>
              </a:r>
            </a:p>
          </p:txBody>
        </p:sp>
        <p:sp>
          <p:nvSpPr>
            <p:cNvPr name="AutoShape 7" id="7"/>
            <p:cNvSpPr/>
            <p:nvPr/>
          </p:nvSpPr>
          <p:spPr>
            <a:xfrm>
              <a:off x="0" y="3222414"/>
              <a:ext cx="9614826" cy="0"/>
            </a:xfrm>
            <a:prstGeom prst="line">
              <a:avLst/>
            </a:prstGeom>
            <a:ln cap="flat" w="25400">
              <a:solidFill>
                <a:srgbClr val="2C3E50"/>
              </a:solidFill>
              <a:prstDash val="solid"/>
              <a:headEnd type="none" len="sm" w="sm"/>
              <a:tailEnd type="none" len="sm" w="sm"/>
            </a:ln>
          </p:spPr>
        </p:sp>
        <p:sp>
          <p:nvSpPr>
            <p:cNvPr name="TextBox 8" id="8"/>
            <p:cNvSpPr txBox="true"/>
            <p:nvPr/>
          </p:nvSpPr>
          <p:spPr>
            <a:xfrm rot="0">
              <a:off x="26326" y="6438900"/>
              <a:ext cx="9588500" cy="2070100"/>
            </a:xfrm>
            <a:prstGeom prst="rect">
              <a:avLst/>
            </a:prstGeom>
          </p:spPr>
          <p:txBody>
            <a:bodyPr anchor="t" rtlCol="false" tIns="0" lIns="0" bIns="0" rIns="0">
              <a:spAutoFit/>
            </a:bodyPr>
            <a:lstStyle/>
            <a:p>
              <a:pPr algn="l" marL="0" indent="0" lvl="0">
                <a:lnSpc>
                  <a:spcPts val="2400"/>
                </a:lnSpc>
              </a:pPr>
              <a:r>
                <a:rPr lang="en-US" sz="2000">
                  <a:solidFill>
                    <a:srgbClr val="2C3E50"/>
                  </a:solidFill>
                  <a:latin typeface="Carlito"/>
                  <a:ea typeface="Carlito"/>
                  <a:cs typeface="Carlito"/>
                  <a:sym typeface="Carlito"/>
                </a:rPr>
                <a:t>Power BI, biznes tahlil va qaror qabul qilish jarayonida kuchli vosita hisoblanadi. Ushbu prezentatsiyada </a:t>
              </a:r>
              <a:r>
                <a:rPr lang="en-US" b="true" sz="2000">
                  <a:solidFill>
                    <a:srgbClr val="2C3E50"/>
                  </a:solidFill>
                  <a:latin typeface="Carlito Bold"/>
                  <a:ea typeface="Carlito Bold"/>
                  <a:cs typeface="Carlito Bold"/>
                  <a:sym typeface="Carlito Bold"/>
                </a:rPr>
                <a:t>KPI, Metrics, Dimensions va Facts</a:t>
              </a:r>
              <a:r>
                <a:rPr lang="en-US" sz="2000">
                  <a:solidFill>
                    <a:srgbClr val="2C3E50"/>
                  </a:solidFill>
                  <a:latin typeface="Carlito"/>
                  <a:ea typeface="Carlito"/>
                  <a:cs typeface="Carlito"/>
                  <a:sym typeface="Carlito"/>
                </a:rPr>
                <a:t> tushunchalarining ta'riflari, xususiyatlari va misollarini o‘rganamiz. Ushbu tushunchalarni bilish biznesni muvaffaqiyatli boshqarish uchun juda muhimdir.</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104" t="0" r="-104"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104" t="0" r="-104"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104" t="0" r="-104"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KPI Tushunchalari</a:t>
            </a:r>
          </a:p>
        </p:txBody>
      </p:sp>
      <p:grpSp>
        <p:nvGrpSpPr>
          <p:cNvPr name="Group 9" id="9"/>
          <p:cNvGrpSpPr/>
          <p:nvPr/>
        </p:nvGrpSpPr>
        <p:grpSpPr>
          <a:xfrm rot="0">
            <a:off x="4981575" y="4248150"/>
            <a:ext cx="2876550" cy="1255395"/>
            <a:chOff x="0" y="0"/>
            <a:chExt cx="3835400" cy="1673860"/>
          </a:xfrm>
        </p:grpSpPr>
        <p:sp>
          <p:nvSpPr>
            <p:cNvPr name="TextBox 10" id="10"/>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Ta’rifi</a:t>
              </a:r>
            </a:p>
          </p:txBody>
        </p:sp>
        <p:sp>
          <p:nvSpPr>
            <p:cNvPr name="TextBox 11" id="11"/>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KPI — biznes maqsadlarini o‘lchovchi ko‘rsatkich</a:t>
              </a:r>
            </a:p>
          </p:txBody>
        </p:sp>
      </p:grpSp>
      <p:grpSp>
        <p:nvGrpSpPr>
          <p:cNvPr name="Group 12" id="12"/>
          <p:cNvGrpSpPr/>
          <p:nvPr/>
        </p:nvGrpSpPr>
        <p:grpSpPr>
          <a:xfrm rot="0">
            <a:off x="9296400" y="4248150"/>
            <a:ext cx="2876550" cy="1255395"/>
            <a:chOff x="0" y="0"/>
            <a:chExt cx="3835400" cy="1673860"/>
          </a:xfrm>
        </p:grpSpPr>
        <p:sp>
          <p:nvSpPr>
            <p:cNvPr name="TextBox 13" id="13"/>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Strategik yo‘naltirilgan, aniq maqsadga yo‘naltiriladi</a:t>
              </a:r>
            </a:p>
          </p:txBody>
        </p:sp>
        <p:sp>
          <p:nvSpPr>
            <p:cNvPr name="TextBox 14" id="14"/>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Xususiyatlari</a:t>
              </a:r>
            </a:p>
          </p:txBody>
        </p:sp>
      </p:grpSp>
      <p:grpSp>
        <p:nvGrpSpPr>
          <p:cNvPr name="Group 15" id="15"/>
          <p:cNvGrpSpPr/>
          <p:nvPr/>
        </p:nvGrpSpPr>
        <p:grpSpPr>
          <a:xfrm rot="0">
            <a:off x="13611225" y="4248150"/>
            <a:ext cx="2876550" cy="1255395"/>
            <a:chOff x="0" y="0"/>
            <a:chExt cx="3835400" cy="1673860"/>
          </a:xfrm>
        </p:grpSpPr>
        <p:sp>
          <p:nvSpPr>
            <p:cNvPr name="TextBox 16" id="16"/>
            <p:cNvSpPr txBox="true"/>
            <p:nvPr/>
          </p:nvSpPr>
          <p:spPr>
            <a:xfrm rot="0">
              <a:off x="0" y="820420"/>
              <a:ext cx="38354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Oylik sotuvlar va mijoz saqlash darajasi</a:t>
              </a:r>
            </a:p>
          </p:txBody>
        </p:sp>
        <p:sp>
          <p:nvSpPr>
            <p:cNvPr name="TextBox 17" id="17"/>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Misollar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39763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KPI Misollari va Biznes Savollari</a:t>
            </a:r>
          </a:p>
        </p:txBody>
      </p:sp>
      <p:grpSp>
        <p:nvGrpSpPr>
          <p:cNvPr name="Group 5" id="5"/>
          <p:cNvGrpSpPr/>
          <p:nvPr/>
        </p:nvGrpSpPr>
        <p:grpSpPr>
          <a:xfrm rot="0">
            <a:off x="7553325" y="7829550"/>
            <a:ext cx="5753100" cy="895350"/>
            <a:chOff x="0" y="0"/>
            <a:chExt cx="7670800" cy="1193800"/>
          </a:xfrm>
        </p:grpSpPr>
        <p:sp>
          <p:nvSpPr>
            <p:cNvPr name="TextBox 6" id="6"/>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KPI Misollari</a:t>
              </a:r>
            </a:p>
          </p:txBody>
        </p:sp>
        <p:sp>
          <p:nvSpPr>
            <p:cNvPr name="TextBox 7" id="7"/>
            <p:cNvSpPr txBox="true"/>
            <p:nvPr/>
          </p:nvSpPr>
          <p:spPr>
            <a:xfrm rot="0">
              <a:off x="0" y="759460"/>
              <a:ext cx="7670800" cy="4343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Oylik sotuvlar va foyda ko‘rsatkichlarini o‘lchash.</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104" t="0" r="-104"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104" t="0" r="-104"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104" t="0" r="-104"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Metrikalar</a:t>
            </a:r>
          </a:p>
        </p:txBody>
      </p:sp>
      <p:grpSp>
        <p:nvGrpSpPr>
          <p:cNvPr name="Group 9" id="9"/>
          <p:cNvGrpSpPr/>
          <p:nvPr/>
        </p:nvGrpSpPr>
        <p:grpSpPr>
          <a:xfrm rot="0">
            <a:off x="4981575" y="4248150"/>
            <a:ext cx="2876550" cy="1255967"/>
            <a:chOff x="0" y="0"/>
            <a:chExt cx="3835400" cy="1674622"/>
          </a:xfrm>
        </p:grpSpPr>
        <p:sp>
          <p:nvSpPr>
            <p:cNvPr name="TextBox 10" id="10"/>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O‘lchovlar</a:t>
              </a:r>
            </a:p>
          </p:txBody>
        </p:sp>
        <p:sp>
          <p:nvSpPr>
            <p:cNvPr name="TextBox 11" id="11"/>
            <p:cNvSpPr txBox="true"/>
            <p:nvPr/>
          </p:nvSpPr>
          <p:spPr>
            <a:xfrm rot="0">
              <a:off x="0" y="829945"/>
              <a:ext cx="3835400" cy="844677"/>
            </a:xfrm>
            <a:prstGeom prst="rect">
              <a:avLst/>
            </a:prstGeom>
          </p:spPr>
          <p:txBody>
            <a:bodyPr anchor="t" rtlCol="false" tIns="0" lIns="0" bIns="0" rIns="0">
              <a:spAutoFit/>
            </a:bodyPr>
            <a:lstStyle/>
            <a:p>
              <a:pPr algn="l" marL="0" indent="0" lvl="0">
                <a:lnSpc>
                  <a:spcPts val="2488"/>
                </a:lnSpc>
              </a:pPr>
              <a:r>
                <a:rPr lang="en-US" sz="1777">
                  <a:solidFill>
                    <a:srgbClr val="2C3E50"/>
                  </a:solidFill>
                  <a:latin typeface="Carlito"/>
                  <a:ea typeface="Carlito"/>
                  <a:cs typeface="Carlito"/>
                  <a:sym typeface="Carlito"/>
                </a:rPr>
                <a:t>Metrikalar — o‘lchash uchun sonli ko‘rsatkichlar</a:t>
              </a:r>
            </a:p>
          </p:txBody>
        </p:sp>
      </p:grpSp>
      <p:grpSp>
        <p:nvGrpSpPr>
          <p:cNvPr name="Group 12" id="12"/>
          <p:cNvGrpSpPr/>
          <p:nvPr/>
        </p:nvGrpSpPr>
        <p:grpSpPr>
          <a:xfrm rot="0">
            <a:off x="9296400" y="4248150"/>
            <a:ext cx="2876550" cy="1255967"/>
            <a:chOff x="0" y="0"/>
            <a:chExt cx="3835400" cy="1674622"/>
          </a:xfrm>
        </p:grpSpPr>
        <p:sp>
          <p:nvSpPr>
            <p:cNvPr name="TextBox 13" id="13"/>
            <p:cNvSpPr txBox="true"/>
            <p:nvPr/>
          </p:nvSpPr>
          <p:spPr>
            <a:xfrm rot="0">
              <a:off x="0" y="829945"/>
              <a:ext cx="3835400" cy="844677"/>
            </a:xfrm>
            <a:prstGeom prst="rect">
              <a:avLst/>
            </a:prstGeom>
          </p:spPr>
          <p:txBody>
            <a:bodyPr anchor="t" rtlCol="false" tIns="0" lIns="0" bIns="0" rIns="0">
              <a:spAutoFit/>
            </a:bodyPr>
            <a:lstStyle/>
            <a:p>
              <a:pPr algn="l" marL="0" indent="0" lvl="0">
                <a:lnSpc>
                  <a:spcPts val="2488"/>
                </a:lnSpc>
              </a:pPr>
              <a:r>
                <a:rPr lang="en-US" sz="1777">
                  <a:solidFill>
                    <a:srgbClr val="2C3E50"/>
                  </a:solidFill>
                  <a:latin typeface="Carlito"/>
                  <a:ea typeface="Carlito"/>
                  <a:cs typeface="Carlito"/>
                  <a:sym typeface="Carlito"/>
                </a:rPr>
                <a:t>Hisoblangan ustunlar yordamida metrikalar yaratiladi</a:t>
              </a:r>
            </a:p>
          </p:txBody>
        </p:sp>
        <p:sp>
          <p:nvSpPr>
            <p:cNvPr name="TextBox 14" id="14"/>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Hisoblash</a:t>
              </a:r>
            </a:p>
          </p:txBody>
        </p:sp>
      </p:grpSp>
      <p:grpSp>
        <p:nvGrpSpPr>
          <p:cNvPr name="Group 15" id="15"/>
          <p:cNvGrpSpPr/>
          <p:nvPr/>
        </p:nvGrpSpPr>
        <p:grpSpPr>
          <a:xfrm rot="0">
            <a:off x="13611225" y="4248150"/>
            <a:ext cx="2876550" cy="1255967"/>
            <a:chOff x="0" y="0"/>
            <a:chExt cx="3835400" cy="1674622"/>
          </a:xfrm>
        </p:grpSpPr>
        <p:sp>
          <p:nvSpPr>
            <p:cNvPr name="TextBox 16" id="16"/>
            <p:cNvSpPr txBox="true"/>
            <p:nvPr/>
          </p:nvSpPr>
          <p:spPr>
            <a:xfrm rot="0">
              <a:off x="0" y="829945"/>
              <a:ext cx="3835400" cy="844677"/>
            </a:xfrm>
            <a:prstGeom prst="rect">
              <a:avLst/>
            </a:prstGeom>
          </p:spPr>
          <p:txBody>
            <a:bodyPr anchor="t" rtlCol="false" tIns="0" lIns="0" bIns="0" rIns="0">
              <a:spAutoFit/>
            </a:bodyPr>
            <a:lstStyle/>
            <a:p>
              <a:pPr algn="l" marL="0" indent="0" lvl="0">
                <a:lnSpc>
                  <a:spcPts val="2488"/>
                </a:lnSpc>
              </a:pPr>
              <a:r>
                <a:rPr lang="en-US" sz="1777">
                  <a:solidFill>
                    <a:srgbClr val="2C3E50"/>
                  </a:solidFill>
                  <a:latin typeface="Carlito"/>
                  <a:ea typeface="Carlito"/>
                  <a:cs typeface="Carlito"/>
                  <a:sym typeface="Carlito"/>
                </a:rPr>
                <a:t>Tahlilchilar uchun metrikalar asosiy ma’lumotlardir</a:t>
              </a:r>
            </a:p>
          </p:txBody>
        </p:sp>
        <p:sp>
          <p:nvSpPr>
            <p:cNvPr name="TextBox 17" id="17"/>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Tahlil</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23900"/>
            <a:ext cx="4619625" cy="39763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Metrics Misollari: Jadval va Grafiklar</a:t>
            </a:r>
          </a:p>
        </p:txBody>
      </p:sp>
      <p:grpSp>
        <p:nvGrpSpPr>
          <p:cNvPr name="Group 5" id="5"/>
          <p:cNvGrpSpPr/>
          <p:nvPr/>
        </p:nvGrpSpPr>
        <p:grpSpPr>
          <a:xfrm rot="0">
            <a:off x="7553325" y="7829550"/>
            <a:ext cx="5753100" cy="1209675"/>
            <a:chOff x="0" y="0"/>
            <a:chExt cx="7670800" cy="1612900"/>
          </a:xfrm>
        </p:grpSpPr>
        <p:sp>
          <p:nvSpPr>
            <p:cNvPr name="TextBox 6" id="6"/>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Tushuncha</a:t>
              </a:r>
            </a:p>
          </p:txBody>
        </p:sp>
        <p:sp>
          <p:nvSpPr>
            <p:cNvPr name="TextBox 7" id="7"/>
            <p:cNvSpPr txBox="true"/>
            <p:nvPr/>
          </p:nvSpPr>
          <p:spPr>
            <a:xfrm rot="0">
              <a:off x="0" y="759460"/>
              <a:ext cx="7670800" cy="8534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Metrics ma’lumotni yanada aniqroq ko‘rsatish uchun graphs va tables orqali tasvirlanadi.</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96400" y="6038850"/>
            <a:ext cx="4010025" cy="3581400"/>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104" t="0" r="-104" b="0"/>
              </a:stretch>
            </a:blipFill>
          </p:spPr>
        </p:sp>
      </p:grpSp>
      <p:grpSp>
        <p:nvGrpSpPr>
          <p:cNvPr name="Group 4" id="4"/>
          <p:cNvGrpSpPr/>
          <p:nvPr/>
        </p:nvGrpSpPr>
        <p:grpSpPr>
          <a:xfrm rot="0">
            <a:off x="4981575" y="6038850"/>
            <a:ext cx="4010025" cy="3581400"/>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104" t="0" r="-104" b="0"/>
              </a:stretch>
            </a:blipFill>
          </p:spPr>
        </p:sp>
      </p:grpSp>
      <p:grpSp>
        <p:nvGrpSpPr>
          <p:cNvPr name="Group 6" id="6"/>
          <p:cNvGrpSpPr/>
          <p:nvPr/>
        </p:nvGrpSpPr>
        <p:grpSpPr>
          <a:xfrm rot="0">
            <a:off x="13611225" y="6038850"/>
            <a:ext cx="4010025" cy="3581400"/>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104" t="0" r="-104" b="0"/>
              </a:stretch>
            </a:blipFill>
          </p:spPr>
        </p:sp>
      </p:grpSp>
      <p:sp>
        <p:nvSpPr>
          <p:cNvPr name="TextBox 8" id="8"/>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2C3E50"/>
                </a:solidFill>
                <a:latin typeface="Radley"/>
                <a:ea typeface="Radley"/>
                <a:cs typeface="Radley"/>
                <a:sym typeface="Radley"/>
              </a:rPr>
              <a:t>Dimensi</a:t>
            </a:r>
            <a:r>
              <a:rPr lang="en-US" sz="7000">
                <a:solidFill>
                  <a:srgbClr val="2C3E50"/>
                </a:solidFill>
                <a:latin typeface="Radley"/>
                <a:ea typeface="Radley"/>
                <a:cs typeface="Radley"/>
                <a:sym typeface="Radley"/>
              </a:rPr>
              <a:t>ons</a:t>
            </a:r>
          </a:p>
        </p:txBody>
      </p:sp>
      <p:grpSp>
        <p:nvGrpSpPr>
          <p:cNvPr name="Group 9" id="9"/>
          <p:cNvGrpSpPr/>
          <p:nvPr/>
        </p:nvGrpSpPr>
        <p:grpSpPr>
          <a:xfrm rot="0">
            <a:off x="4981575" y="4248150"/>
            <a:ext cx="4231569" cy="1884045"/>
            <a:chOff x="0" y="0"/>
            <a:chExt cx="5642092" cy="2512060"/>
          </a:xfrm>
        </p:grpSpPr>
        <p:sp>
          <p:nvSpPr>
            <p:cNvPr name="TextBox 10" id="10"/>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Table</a:t>
              </a:r>
            </a:p>
          </p:txBody>
        </p:sp>
        <p:sp>
          <p:nvSpPr>
            <p:cNvPr name="TextBox 11" id="11"/>
            <p:cNvSpPr txBox="true"/>
            <p:nvPr/>
          </p:nvSpPr>
          <p:spPr>
            <a:xfrm rot="0">
              <a:off x="0" y="820420"/>
              <a:ext cx="5642092" cy="1691640"/>
            </a:xfrm>
            <a:prstGeom prst="rect">
              <a:avLst/>
            </a:prstGeom>
          </p:spPr>
          <p:txBody>
            <a:bodyPr anchor="t" rtlCol="false" tIns="0" lIns="0" bIns="0" rIns="0">
              <a:spAutoFit/>
            </a:bodyPr>
            <a:lstStyle/>
            <a:p>
              <a:pPr algn="l">
                <a:lnSpc>
                  <a:spcPts val="2520"/>
                </a:lnSpc>
              </a:pPr>
              <a:r>
                <a:rPr lang="en-US" sz="1800">
                  <a:solidFill>
                    <a:srgbClr val="2C3E50"/>
                  </a:solidFill>
                  <a:latin typeface="Carlito"/>
                  <a:ea typeface="Carlito"/>
                  <a:cs typeface="Carlito"/>
                  <a:sym typeface="Carlito"/>
                </a:rPr>
                <a:t>Biznes jarayonlarini tavsiflovchi, matnli/kategoriyaviy atributlar,</a:t>
              </a:r>
            </a:p>
            <a:p>
              <a:pPr algn="l" marL="0" indent="0" lvl="0">
                <a:lnSpc>
                  <a:spcPts val="2520"/>
                </a:lnSpc>
              </a:pPr>
              <a:r>
                <a:rPr lang="en-US" sz="1800">
                  <a:solidFill>
                    <a:srgbClr val="2C3E50"/>
                  </a:solidFill>
                  <a:latin typeface="Carlito"/>
                  <a:ea typeface="Carlito"/>
                  <a:cs typeface="Carlito"/>
                  <a:sym typeface="Carlito"/>
                </a:rPr>
                <a:t>ular bo‘yicha ,bo‘lish, filtr qilish, guruhlash qilinadi</a:t>
              </a:r>
            </a:p>
          </p:txBody>
        </p:sp>
      </p:grpSp>
      <p:grpSp>
        <p:nvGrpSpPr>
          <p:cNvPr name="Group 12" id="12"/>
          <p:cNvGrpSpPr/>
          <p:nvPr/>
        </p:nvGrpSpPr>
        <p:grpSpPr>
          <a:xfrm rot="0">
            <a:off x="9296400" y="4248150"/>
            <a:ext cx="2876550" cy="941070"/>
            <a:chOff x="0" y="0"/>
            <a:chExt cx="3835400" cy="1254760"/>
          </a:xfrm>
        </p:grpSpPr>
        <p:sp>
          <p:nvSpPr>
            <p:cNvPr name="TextBox 13" id="13"/>
            <p:cNvSpPr txBox="true"/>
            <p:nvPr/>
          </p:nvSpPr>
          <p:spPr>
            <a:xfrm rot="0">
              <a:off x="0" y="820420"/>
              <a:ext cx="3835400" cy="4343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dim_....</a:t>
              </a:r>
            </a:p>
          </p:txBody>
        </p:sp>
        <p:sp>
          <p:nvSpPr>
            <p:cNvPr name="TextBox 14" id="14"/>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Nomi</a:t>
              </a:r>
            </a:p>
          </p:txBody>
        </p:sp>
      </p:grpSp>
      <p:grpSp>
        <p:nvGrpSpPr>
          <p:cNvPr name="Group 15" id="15"/>
          <p:cNvGrpSpPr/>
          <p:nvPr/>
        </p:nvGrpSpPr>
        <p:grpSpPr>
          <a:xfrm rot="0">
            <a:off x="13611225" y="4248150"/>
            <a:ext cx="2876550" cy="941070"/>
            <a:chOff x="0" y="0"/>
            <a:chExt cx="3835400" cy="1254760"/>
          </a:xfrm>
        </p:grpSpPr>
        <p:sp>
          <p:nvSpPr>
            <p:cNvPr name="TextBox 16" id="16"/>
            <p:cNvSpPr txBox="true"/>
            <p:nvPr/>
          </p:nvSpPr>
          <p:spPr>
            <a:xfrm rot="0">
              <a:off x="0" y="820420"/>
              <a:ext cx="3835400" cy="4343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Customers,Products,....</a:t>
              </a:r>
            </a:p>
          </p:txBody>
        </p:sp>
        <p:sp>
          <p:nvSpPr>
            <p:cNvPr name="TextBox 17" id="17"/>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Misol</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53325" y="0"/>
            <a:ext cx="10734675" cy="6934200"/>
            <a:chOff x="0" y="0"/>
            <a:chExt cx="3111331" cy="2009804"/>
          </a:xfrm>
        </p:grpSpPr>
        <p:sp>
          <p:nvSpPr>
            <p:cNvPr name="Freeform 3" id="3"/>
            <p:cNvSpPr/>
            <p:nvPr/>
          </p:nvSpPr>
          <p:spPr>
            <a:xfrm flipH="false" flipV="false" rot="0">
              <a:off x="0" y="0"/>
              <a:ext cx="3111331" cy="2009804"/>
            </a:xfrm>
            <a:custGeom>
              <a:avLst/>
              <a:gdLst/>
              <a:ahLst/>
              <a:cxnLst/>
              <a:rect r="r" b="b" t="t" l="l"/>
              <a:pathLst>
                <a:path h="2009804" w="3111331">
                  <a:moveTo>
                    <a:pt x="0" y="0"/>
                  </a:moveTo>
                  <a:lnTo>
                    <a:pt x="3111331" y="0"/>
                  </a:lnTo>
                  <a:lnTo>
                    <a:pt x="3111331" y="2009804"/>
                  </a:lnTo>
                  <a:lnTo>
                    <a:pt x="0" y="2009804"/>
                  </a:lnTo>
                  <a:close/>
                </a:path>
              </a:pathLst>
            </a:custGeom>
            <a:blipFill>
              <a:blip r:embed="rId2"/>
              <a:stretch>
                <a:fillRect l="-74" t="0" r="-74" b="0"/>
              </a:stretch>
            </a:blipFill>
          </p:spPr>
        </p:sp>
      </p:grpSp>
      <p:sp>
        <p:nvSpPr>
          <p:cNvPr name="TextBox 4" id="4"/>
          <p:cNvSpPr txBox="true"/>
          <p:nvPr/>
        </p:nvSpPr>
        <p:spPr>
          <a:xfrm rot="0">
            <a:off x="666750" y="714375"/>
            <a:ext cx="4619625" cy="850773"/>
          </a:xfrm>
          <a:prstGeom prst="rect">
            <a:avLst/>
          </a:prstGeom>
        </p:spPr>
        <p:txBody>
          <a:bodyPr anchor="t" rtlCol="false" tIns="0" lIns="0" bIns="0" rIns="0">
            <a:spAutoFit/>
          </a:bodyPr>
          <a:lstStyle/>
          <a:p>
            <a:pPr algn="l" marL="0" indent="0" lvl="0">
              <a:lnSpc>
                <a:spcPts val="6636"/>
              </a:lnSpc>
              <a:spcBef>
                <a:spcPct val="0"/>
              </a:spcBef>
            </a:pPr>
            <a:r>
              <a:rPr lang="en-US" sz="5925">
                <a:solidFill>
                  <a:srgbClr val="2C3E50"/>
                </a:solidFill>
                <a:latin typeface="Radley"/>
                <a:ea typeface="Radley"/>
                <a:cs typeface="Radley"/>
                <a:sym typeface="Radley"/>
              </a:rPr>
              <a:t>Facts</a:t>
            </a:r>
          </a:p>
        </p:txBody>
      </p:sp>
      <p:grpSp>
        <p:nvGrpSpPr>
          <p:cNvPr name="Group 5" id="5"/>
          <p:cNvGrpSpPr/>
          <p:nvPr/>
        </p:nvGrpSpPr>
        <p:grpSpPr>
          <a:xfrm rot="0">
            <a:off x="7553325" y="7829550"/>
            <a:ext cx="5753100" cy="895350"/>
            <a:chOff x="0" y="0"/>
            <a:chExt cx="7670800" cy="1193800"/>
          </a:xfrm>
        </p:grpSpPr>
        <p:sp>
          <p:nvSpPr>
            <p:cNvPr name="TextBox 6" id="6"/>
            <p:cNvSpPr txBox="true"/>
            <p:nvPr/>
          </p:nvSpPr>
          <p:spPr>
            <a:xfrm rot="0">
              <a:off x="0" y="-57150"/>
              <a:ext cx="76708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2980B9"/>
                  </a:solidFill>
                  <a:latin typeface="Radley"/>
                  <a:ea typeface="Radley"/>
                  <a:cs typeface="Radley"/>
                  <a:sym typeface="Radley"/>
                </a:rPr>
                <a:t>Fact table</a:t>
              </a:r>
            </a:p>
          </p:txBody>
        </p:sp>
        <p:sp>
          <p:nvSpPr>
            <p:cNvPr name="TextBox 7" id="7"/>
            <p:cNvSpPr txBox="true"/>
            <p:nvPr/>
          </p:nvSpPr>
          <p:spPr>
            <a:xfrm rot="0">
              <a:off x="0" y="759460"/>
              <a:ext cx="7670800" cy="434340"/>
            </a:xfrm>
            <a:prstGeom prst="rect">
              <a:avLst/>
            </a:prstGeom>
          </p:spPr>
          <p:txBody>
            <a:bodyPr anchor="t" rtlCol="false" tIns="0" lIns="0" bIns="0" rIns="0">
              <a:spAutoFit/>
            </a:bodyPr>
            <a:lstStyle/>
            <a:p>
              <a:pPr algn="l" marL="0" indent="0" lvl="0">
                <a:lnSpc>
                  <a:spcPts val="2520"/>
                </a:lnSpc>
              </a:pPr>
              <a:r>
                <a:rPr lang="en-US" sz="1800">
                  <a:solidFill>
                    <a:srgbClr val="2C3E50"/>
                  </a:solidFill>
                  <a:latin typeface="Carlito"/>
                  <a:ea typeface="Carlito"/>
                  <a:cs typeface="Carlito"/>
                  <a:sym typeface="Carlito"/>
                </a:rPr>
                <a:t>O‘l</a:t>
              </a:r>
              <a:r>
                <a:rPr lang="en-US" sz="1800">
                  <a:solidFill>
                    <a:srgbClr val="2C3E50"/>
                  </a:solidFill>
                  <a:latin typeface="Carlito"/>
                  <a:ea typeface="Carlito"/>
                  <a:cs typeface="Carlito"/>
                  <a:sym typeface="Carlito"/>
                </a:rPr>
                <a:t>cha</a:t>
              </a:r>
              <a:r>
                <a:rPr lang="en-US" sz="1800">
                  <a:solidFill>
                    <a:srgbClr val="2C3E50"/>
                  </a:solidFill>
                  <a:latin typeface="Carlito"/>
                  <a:ea typeface="Carlito"/>
                  <a:cs typeface="Carlito"/>
                  <a:sym typeface="Carlito"/>
                </a:rPr>
                <a:t>n</a:t>
              </a:r>
              <a:r>
                <a:rPr lang="en-US" sz="1800">
                  <a:solidFill>
                    <a:srgbClr val="2C3E50"/>
                  </a:solidFill>
                  <a:latin typeface="Carlito"/>
                  <a:ea typeface="Carlito"/>
                  <a:cs typeface="Carlito"/>
                  <a:sym typeface="Carlito"/>
                </a:rPr>
                <a:t>ad</a:t>
              </a:r>
              <a:r>
                <a:rPr lang="en-US" sz="1800">
                  <a:solidFill>
                    <a:srgbClr val="2C3E50"/>
                  </a:solidFill>
                  <a:latin typeface="Carlito"/>
                  <a:ea typeface="Carlito"/>
                  <a:cs typeface="Carlito"/>
                  <a:sym typeface="Carlito"/>
                </a:rPr>
                <a:t>i</a:t>
              </a:r>
              <a:r>
                <a:rPr lang="en-US" sz="1800">
                  <a:solidFill>
                    <a:srgbClr val="2C3E50"/>
                  </a:solidFill>
                  <a:latin typeface="Carlito"/>
                  <a:ea typeface="Carlito"/>
                  <a:cs typeface="Carlito"/>
                  <a:sym typeface="Carlito"/>
                </a:rPr>
                <a:t>g</a:t>
              </a:r>
              <a:r>
                <a:rPr lang="en-US" sz="1800">
                  <a:solidFill>
                    <a:srgbClr val="2C3E50"/>
                  </a:solidFill>
                  <a:latin typeface="Carlito"/>
                  <a:ea typeface="Carlito"/>
                  <a:cs typeface="Carlito"/>
                  <a:sym typeface="Carlito"/>
                </a:rPr>
                <a:t>a</a:t>
              </a:r>
              <a:r>
                <a:rPr lang="en-US" sz="1800">
                  <a:solidFill>
                    <a:srgbClr val="2C3E50"/>
                  </a:solidFill>
                  <a:latin typeface="Carlito"/>
                  <a:ea typeface="Carlito"/>
                  <a:cs typeface="Carlito"/>
                  <a:sym typeface="Carlito"/>
                </a:rPr>
                <a:t>n son</a:t>
              </a:r>
              <a:r>
                <a:rPr lang="en-US" sz="1800">
                  <a:solidFill>
                    <a:srgbClr val="2C3E50"/>
                  </a:solidFill>
                  <a:latin typeface="Carlito"/>
                  <a:ea typeface="Carlito"/>
                  <a:cs typeface="Carlito"/>
                  <a:sym typeface="Carlito"/>
                </a:rPr>
                <a:t>l</a:t>
              </a:r>
              <a:r>
                <a:rPr lang="en-US" sz="1800">
                  <a:solidFill>
                    <a:srgbClr val="2C3E50"/>
                  </a:solidFill>
                  <a:latin typeface="Carlito"/>
                  <a:ea typeface="Carlito"/>
                  <a:cs typeface="Carlito"/>
                  <a:sym typeface="Carlito"/>
                </a:rPr>
                <a:t>i</a:t>
              </a:r>
              <a:r>
                <a:rPr lang="en-US" sz="1800">
                  <a:solidFill>
                    <a:srgbClr val="2C3E50"/>
                  </a:solidFill>
                  <a:latin typeface="Carlito"/>
                  <a:ea typeface="Carlito"/>
                  <a:cs typeface="Carlito"/>
                  <a:sym typeface="Carlito"/>
                </a:rPr>
                <a:t> </a:t>
              </a:r>
              <a:r>
                <a:rPr lang="en-US" sz="1800">
                  <a:solidFill>
                    <a:srgbClr val="2C3E50"/>
                  </a:solidFill>
                  <a:latin typeface="Carlito"/>
                  <a:ea typeface="Carlito"/>
                  <a:cs typeface="Carlito"/>
                  <a:sym typeface="Carlito"/>
                </a:rPr>
                <a:t>m</a:t>
              </a:r>
              <a:r>
                <a:rPr lang="en-US" sz="1800">
                  <a:solidFill>
                    <a:srgbClr val="2C3E50"/>
                  </a:solidFill>
                  <a:latin typeface="Carlito"/>
                  <a:ea typeface="Carlito"/>
                  <a:cs typeface="Carlito"/>
                  <a:sym typeface="Carlito"/>
                </a:rPr>
                <a:t>a</a:t>
              </a:r>
              <a:r>
                <a:rPr lang="en-US" sz="1800">
                  <a:solidFill>
                    <a:srgbClr val="2C3E50"/>
                  </a:solidFill>
                  <a:latin typeface="Carlito"/>
                  <a:ea typeface="Carlito"/>
                  <a:cs typeface="Carlito"/>
                  <a:sym typeface="Carlito"/>
                </a:rPr>
                <a:t>’</a:t>
              </a:r>
              <a:r>
                <a:rPr lang="en-US" sz="1800">
                  <a:solidFill>
                    <a:srgbClr val="2C3E50"/>
                  </a:solidFill>
                  <a:latin typeface="Carlito"/>
                  <a:ea typeface="Carlito"/>
                  <a:cs typeface="Carlito"/>
                  <a:sym typeface="Carlito"/>
                </a:rPr>
                <a:t>lu</a:t>
              </a:r>
              <a:r>
                <a:rPr lang="en-US" sz="1800">
                  <a:solidFill>
                    <a:srgbClr val="2C3E50"/>
                  </a:solidFill>
                  <a:latin typeface="Carlito"/>
                  <a:ea typeface="Carlito"/>
                  <a:cs typeface="Carlito"/>
                  <a:sym typeface="Carlito"/>
                </a:rPr>
                <a:t>motlar (transactional)</a:t>
              </a:r>
            </a:p>
          </p:txBody>
        </p:sp>
      </p:grpSp>
      <p:grpSp>
        <p:nvGrpSpPr>
          <p:cNvPr name="Group 8" id="8"/>
          <p:cNvGrpSpPr/>
          <p:nvPr/>
        </p:nvGrpSpPr>
        <p:grpSpPr>
          <a:xfrm rot="0">
            <a:off x="666750" y="9184102"/>
            <a:ext cx="2171730" cy="2205796"/>
            <a:chOff x="0" y="0"/>
            <a:chExt cx="812800" cy="825500"/>
          </a:xfrm>
        </p:grpSpPr>
        <p:sp>
          <p:nvSpPr>
            <p:cNvPr name="Freeform 9" id="9"/>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0" id="10"/>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543300" y="1562127"/>
            <a:ext cx="11201400" cy="2066938"/>
            <a:chOff x="0" y="0"/>
            <a:chExt cx="14935200" cy="2755917"/>
          </a:xfrm>
        </p:grpSpPr>
        <p:sp>
          <p:nvSpPr>
            <p:cNvPr name="AutoShape 3" id="3"/>
            <p:cNvSpPr/>
            <p:nvPr/>
          </p:nvSpPr>
          <p:spPr>
            <a:xfrm flipH="true">
              <a:off x="4892198" y="1651034"/>
              <a:ext cx="5150805" cy="0"/>
            </a:xfrm>
            <a:prstGeom prst="line">
              <a:avLst/>
            </a:prstGeom>
            <a:ln cap="flat" w="25400">
              <a:solidFill>
                <a:srgbClr val="2C3E50"/>
              </a:solidFill>
              <a:prstDash val="solid"/>
              <a:headEnd type="none" len="sm" w="sm"/>
              <a:tailEnd type="none" len="sm" w="sm"/>
            </a:ln>
          </p:spPr>
        </p:sp>
        <p:sp>
          <p:nvSpPr>
            <p:cNvPr name="TextBox 4" id="4"/>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pPr>
              <a:r>
                <a:rPr lang="en-US" sz="6000">
                  <a:solidFill>
                    <a:srgbClr val="2C3E50"/>
                  </a:solidFill>
                  <a:latin typeface="Radley"/>
                  <a:ea typeface="Radley"/>
                  <a:cs typeface="Radley"/>
                  <a:sym typeface="Radley"/>
                </a:rPr>
                <a:t>Fact_Sales</a:t>
              </a:r>
            </a:p>
          </p:txBody>
        </p:sp>
        <p:sp>
          <p:nvSpPr>
            <p:cNvPr name="TextBox 5" id="5"/>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a:solidFill>
                    <a:srgbClr val="2C3E50"/>
                  </a:solidFill>
                  <a:latin typeface="Radley"/>
                  <a:ea typeface="Radley"/>
                  <a:cs typeface="Radley"/>
                  <a:sym typeface="Radley"/>
                </a:rPr>
                <a:t>barchar sotuvlar </a:t>
              </a:r>
            </a:p>
          </p:txBody>
        </p:sp>
      </p:grpSp>
      <p:grpSp>
        <p:nvGrpSpPr>
          <p:cNvPr name="Group 6" id="6"/>
          <p:cNvGrpSpPr/>
          <p:nvPr/>
        </p:nvGrpSpPr>
        <p:grpSpPr>
          <a:xfrm rot="0">
            <a:off x="3543300" y="4248238"/>
            <a:ext cx="11201400" cy="2066938"/>
            <a:chOff x="0" y="0"/>
            <a:chExt cx="14935200" cy="2755917"/>
          </a:xfrm>
        </p:grpSpPr>
        <p:sp>
          <p:nvSpPr>
            <p:cNvPr name="AutoShape 7" id="7"/>
            <p:cNvSpPr/>
            <p:nvPr/>
          </p:nvSpPr>
          <p:spPr>
            <a:xfrm flipH="true">
              <a:off x="4892198" y="1651034"/>
              <a:ext cx="5150805" cy="0"/>
            </a:xfrm>
            <a:prstGeom prst="line">
              <a:avLst/>
            </a:prstGeom>
            <a:ln cap="flat" w="25400">
              <a:solidFill>
                <a:srgbClr val="2C3E50"/>
              </a:solidFill>
              <a:prstDash val="solid"/>
              <a:headEnd type="none" len="sm" w="sm"/>
              <a:tailEnd type="none" len="sm" w="sm"/>
            </a:ln>
          </p:spPr>
        </p:sp>
        <p:sp>
          <p:nvSpPr>
            <p:cNvPr name="TextBox 8" id="8"/>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a:solidFill>
                    <a:srgbClr val="2C3E50"/>
                  </a:solidFill>
                  <a:latin typeface="Radley"/>
                  <a:ea typeface="Radley"/>
                  <a:cs typeface="Radley"/>
                  <a:sym typeface="Radley"/>
                </a:rPr>
                <a:t>Fact_Purchase</a:t>
              </a:r>
            </a:p>
          </p:txBody>
        </p:sp>
        <p:sp>
          <p:nvSpPr>
            <p:cNvPr name="TextBox 9" id="9"/>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a:solidFill>
                    <a:srgbClr val="2C3E50"/>
                  </a:solidFill>
                  <a:latin typeface="Radley"/>
                  <a:ea typeface="Radley"/>
                  <a:cs typeface="Radley"/>
                  <a:sym typeface="Radley"/>
                </a:rPr>
                <a:t>Barcha</a:t>
              </a:r>
              <a:r>
                <a:rPr lang="en-US" sz="3500" strike="noStrike" u="none">
                  <a:solidFill>
                    <a:srgbClr val="2C3E50"/>
                  </a:solidFill>
                  <a:latin typeface="Radley"/>
                  <a:ea typeface="Radley"/>
                  <a:cs typeface="Radley"/>
                  <a:sym typeface="Radley"/>
                </a:rPr>
                <a:t> siz xarid qilganlar</a:t>
              </a:r>
            </a:p>
          </p:txBody>
        </p:sp>
      </p:grpSp>
      <p:grpSp>
        <p:nvGrpSpPr>
          <p:cNvPr name="Group 10" id="10"/>
          <p:cNvGrpSpPr/>
          <p:nvPr/>
        </p:nvGrpSpPr>
        <p:grpSpPr>
          <a:xfrm rot="0">
            <a:off x="3543300" y="6934288"/>
            <a:ext cx="11201400" cy="2066938"/>
            <a:chOff x="0" y="0"/>
            <a:chExt cx="14935200" cy="2755917"/>
          </a:xfrm>
        </p:grpSpPr>
        <p:sp>
          <p:nvSpPr>
            <p:cNvPr name="AutoShape 11" id="11"/>
            <p:cNvSpPr/>
            <p:nvPr/>
          </p:nvSpPr>
          <p:spPr>
            <a:xfrm flipH="true">
              <a:off x="4892198" y="1651034"/>
              <a:ext cx="5150805" cy="0"/>
            </a:xfrm>
            <a:prstGeom prst="line">
              <a:avLst/>
            </a:prstGeom>
            <a:ln cap="flat" w="25400">
              <a:solidFill>
                <a:srgbClr val="2C3E50"/>
              </a:solidFill>
              <a:prstDash val="solid"/>
              <a:headEnd type="none" len="sm" w="sm"/>
              <a:tailEnd type="none" len="sm" w="sm"/>
            </a:ln>
          </p:spPr>
        </p:sp>
        <p:sp>
          <p:nvSpPr>
            <p:cNvPr name="TextBox 12" id="12"/>
            <p:cNvSpPr txBox="true"/>
            <p:nvPr/>
          </p:nvSpPr>
          <p:spPr>
            <a:xfrm rot="0">
              <a:off x="0" y="57150"/>
              <a:ext cx="14935200" cy="1162050"/>
            </a:xfrm>
            <a:prstGeom prst="rect">
              <a:avLst/>
            </a:prstGeom>
          </p:spPr>
          <p:txBody>
            <a:bodyPr anchor="t" rtlCol="false" tIns="0" lIns="0" bIns="0" rIns="0">
              <a:spAutoFit/>
            </a:bodyPr>
            <a:lstStyle/>
            <a:p>
              <a:pPr algn="ctr" marL="0" indent="0" lvl="0">
                <a:lnSpc>
                  <a:spcPts val="6600"/>
                </a:lnSpc>
                <a:spcBef>
                  <a:spcPct val="0"/>
                </a:spcBef>
              </a:pPr>
              <a:r>
                <a:rPr lang="en-US" sz="6000">
                  <a:solidFill>
                    <a:srgbClr val="2C3E50"/>
                  </a:solidFill>
                  <a:latin typeface="Radley"/>
                  <a:ea typeface="Radley"/>
                  <a:cs typeface="Radley"/>
                  <a:sym typeface="Radley"/>
                </a:rPr>
                <a:t>Fact_Orders</a:t>
              </a:r>
            </a:p>
          </p:txBody>
        </p:sp>
        <p:sp>
          <p:nvSpPr>
            <p:cNvPr name="TextBox 13" id="13"/>
            <p:cNvSpPr txBox="true"/>
            <p:nvPr/>
          </p:nvSpPr>
          <p:spPr>
            <a:xfrm rot="0">
              <a:off x="0" y="2035192"/>
              <a:ext cx="14935200" cy="720725"/>
            </a:xfrm>
            <a:prstGeom prst="rect">
              <a:avLst/>
            </a:prstGeom>
          </p:spPr>
          <p:txBody>
            <a:bodyPr anchor="t" rtlCol="false" tIns="0" lIns="0" bIns="0" rIns="0">
              <a:spAutoFit/>
            </a:bodyPr>
            <a:lstStyle/>
            <a:p>
              <a:pPr algn="ctr" marL="0" indent="0" lvl="0">
                <a:lnSpc>
                  <a:spcPts val="4200"/>
                </a:lnSpc>
                <a:spcBef>
                  <a:spcPct val="0"/>
                </a:spcBef>
              </a:pPr>
              <a:r>
                <a:rPr lang="en-US" sz="3500">
                  <a:solidFill>
                    <a:srgbClr val="2C3E50"/>
                  </a:solidFill>
                  <a:latin typeface="Radley"/>
                  <a:ea typeface="Radley"/>
                  <a:cs typeface="Radley"/>
                  <a:sym typeface="Radley"/>
                </a:rPr>
                <a:t>Barcha sizdan xarid qilinganlar</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7230865" cy="4867275"/>
            <a:chOff x="0" y="0"/>
            <a:chExt cx="9641153" cy="6489700"/>
          </a:xfrm>
        </p:grpSpPr>
        <p:sp>
          <p:nvSpPr>
            <p:cNvPr name="TextBox 5" id="5"/>
            <p:cNvSpPr txBox="true"/>
            <p:nvPr/>
          </p:nvSpPr>
          <p:spPr>
            <a:xfrm rot="0">
              <a:off x="26326" y="57150"/>
              <a:ext cx="9614826" cy="13584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2C3E50"/>
                  </a:solidFill>
                  <a:latin typeface="Radley Italics"/>
                  <a:ea typeface="Radley Italics"/>
                  <a:cs typeface="Radley Italics"/>
                  <a:sym typeface="Radley Italics"/>
                </a:rPr>
                <a:t>Xulosa</a:t>
              </a:r>
            </a:p>
          </p:txBody>
        </p:sp>
        <p:sp>
          <p:nvSpPr>
            <p:cNvPr name="TextBox 6" id="6"/>
            <p:cNvSpPr txBox="true"/>
            <p:nvPr/>
          </p:nvSpPr>
          <p:spPr>
            <a:xfrm rot="0">
              <a:off x="26326" y="2387600"/>
              <a:ext cx="9614826" cy="13970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2980B9"/>
                  </a:solidFill>
                  <a:latin typeface="Radley"/>
                  <a:ea typeface="Radley"/>
                  <a:cs typeface="Radley"/>
                  <a:sym typeface="Radley"/>
                </a:rPr>
                <a:t>Tushunchalarning muhim qismlari va taqqoslash natijalari</a:t>
              </a:r>
            </a:p>
          </p:txBody>
        </p:sp>
        <p:sp>
          <p:nvSpPr>
            <p:cNvPr name="AutoShape 7" id="7"/>
            <p:cNvSpPr/>
            <p:nvPr/>
          </p:nvSpPr>
          <p:spPr>
            <a:xfrm>
              <a:off x="0" y="1901614"/>
              <a:ext cx="9614826" cy="0"/>
            </a:xfrm>
            <a:prstGeom prst="line">
              <a:avLst/>
            </a:prstGeom>
            <a:ln cap="flat" w="25400">
              <a:solidFill>
                <a:srgbClr val="2C3E50"/>
              </a:solidFill>
              <a:prstDash val="solid"/>
              <a:headEnd type="none" len="sm" w="sm"/>
              <a:tailEnd type="none" len="sm" w="sm"/>
            </a:ln>
          </p:spPr>
        </p:sp>
        <p:sp>
          <p:nvSpPr>
            <p:cNvPr name="TextBox 8" id="8"/>
            <p:cNvSpPr txBox="true"/>
            <p:nvPr/>
          </p:nvSpPr>
          <p:spPr>
            <a:xfrm rot="0">
              <a:off x="26326" y="4419600"/>
              <a:ext cx="9588500" cy="2070100"/>
            </a:xfrm>
            <a:prstGeom prst="rect">
              <a:avLst/>
            </a:prstGeom>
          </p:spPr>
          <p:txBody>
            <a:bodyPr anchor="t" rtlCol="false" tIns="0" lIns="0" bIns="0" rIns="0">
              <a:spAutoFit/>
            </a:bodyPr>
            <a:lstStyle/>
            <a:p>
              <a:pPr algn="l" marL="0" indent="0" lvl="0">
                <a:lnSpc>
                  <a:spcPts val="2400"/>
                </a:lnSpc>
              </a:pPr>
              <a:r>
                <a:rPr lang="en-US" sz="2000">
                  <a:solidFill>
                    <a:srgbClr val="2C3E50"/>
                  </a:solidFill>
                  <a:latin typeface="Carlito"/>
                  <a:ea typeface="Carlito"/>
                  <a:cs typeface="Carlito"/>
                  <a:sym typeface="Carlito"/>
                </a:rPr>
                <a:t>KPI, Metrics, Dimensions, va Facts tushunchalari </a:t>
              </a:r>
              <a:r>
                <a:rPr lang="en-US" b="true" sz="2000">
                  <a:solidFill>
                    <a:srgbClr val="2C3E50"/>
                  </a:solidFill>
                  <a:latin typeface="Carlito Bold"/>
                  <a:ea typeface="Carlito Bold"/>
                  <a:cs typeface="Carlito Bold"/>
                  <a:sym typeface="Carlito Bold"/>
                </a:rPr>
                <a:t>biznes tahlilida</a:t>
              </a:r>
              <a:r>
                <a:rPr lang="en-US" sz="2000">
                  <a:solidFill>
                    <a:srgbClr val="2C3E50"/>
                  </a:solidFill>
                  <a:latin typeface="Carlito"/>
                  <a:ea typeface="Carlito"/>
                  <a:cs typeface="Carlito"/>
                  <a:sym typeface="Carlito"/>
                </a:rPr>
                <a:t> muhim o‘rin tutadi. Ularning har biri o‘ziga xos xususiyatlarga ega bo‘lib, Power BI’da ma’lumotlarni samarali boshqarish va tahlil qilishda yordam beradi. Ushbu tushunchalarni to‘g‘ri qo‘llash, tashkilotlar uchun muvaffaqiyatga erishishda muhim ahamiyatga ega.</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2C3E50"/>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734674" y="2932118"/>
            <a:ext cx="6569697" cy="4349743"/>
            <a:chOff x="0" y="0"/>
            <a:chExt cx="8759596" cy="5799657"/>
          </a:xfrm>
        </p:grpSpPr>
        <p:sp>
          <p:nvSpPr>
            <p:cNvPr name="AutoShape 3" id="3"/>
            <p:cNvSpPr/>
            <p:nvPr/>
          </p:nvSpPr>
          <p:spPr>
            <a:xfrm flipV="true">
              <a:off x="18" y="4140192"/>
              <a:ext cx="8759543" cy="12700"/>
            </a:xfrm>
            <a:prstGeom prst="line">
              <a:avLst/>
            </a:prstGeom>
            <a:ln cap="flat" w="25400">
              <a:solidFill>
                <a:srgbClr val="2C3E50"/>
              </a:solidFill>
              <a:prstDash val="solid"/>
              <a:headEnd type="none" len="sm" w="sm"/>
              <a:tailEnd type="none" len="sm" w="sm"/>
            </a:ln>
          </p:spPr>
        </p:sp>
        <p:sp>
          <p:nvSpPr>
            <p:cNvPr name="AutoShape 4" id="4"/>
            <p:cNvSpPr/>
            <p:nvPr/>
          </p:nvSpPr>
          <p:spPr>
            <a:xfrm flipV="true">
              <a:off x="35" y="1748365"/>
              <a:ext cx="8759543" cy="12700"/>
            </a:xfrm>
            <a:prstGeom prst="line">
              <a:avLst/>
            </a:prstGeom>
            <a:ln cap="flat" w="25400">
              <a:solidFill>
                <a:srgbClr val="2C3E50"/>
              </a:solidFill>
              <a:prstDash val="solid"/>
              <a:headEnd type="none" len="sm" w="sm"/>
              <a:tailEnd type="none" len="sm" w="sm"/>
            </a:ln>
          </p:spPr>
        </p:sp>
        <p:sp>
          <p:nvSpPr>
            <p:cNvPr name="TextBox 5" id="5"/>
            <p:cNvSpPr txBox="true"/>
            <p:nvPr/>
          </p:nvSpPr>
          <p:spPr>
            <a:xfrm rot="0">
              <a:off x="52" y="-76200"/>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2C3E50"/>
                  </a:solidFill>
                  <a:latin typeface="Carlito"/>
                  <a:ea typeface="Carlito"/>
                  <a:cs typeface="Carlito"/>
                  <a:sym typeface="Carlito"/>
                </a:rPr>
                <a:t>INSTAGRAM</a:t>
              </a:r>
            </a:p>
          </p:txBody>
        </p:sp>
        <p:sp>
          <p:nvSpPr>
            <p:cNvPr name="TextBox 6" id="6"/>
            <p:cNvSpPr txBox="true"/>
            <p:nvPr/>
          </p:nvSpPr>
          <p:spPr>
            <a:xfrm rot="0">
              <a:off x="52" y="414865"/>
              <a:ext cx="8759543" cy="698500"/>
            </a:xfrm>
            <a:prstGeom prst="rect">
              <a:avLst/>
            </a:prstGeom>
          </p:spPr>
          <p:txBody>
            <a:bodyPr anchor="t" rtlCol="false" tIns="0" lIns="0" bIns="0" rIns="0">
              <a:spAutoFit/>
            </a:bodyPr>
            <a:lstStyle/>
            <a:p>
              <a:pPr algn="l" marL="0" indent="0" lvl="0">
                <a:lnSpc>
                  <a:spcPts val="4199"/>
                </a:lnSpc>
              </a:pPr>
              <a:r>
                <a:rPr lang="en-US" sz="3499">
                  <a:solidFill>
                    <a:srgbClr val="2980B9"/>
                  </a:solidFill>
                  <a:latin typeface="Radley"/>
                  <a:ea typeface="Radley"/>
                  <a:cs typeface="Radley"/>
                  <a:sym typeface="Radley"/>
                </a:rPr>
                <a:t>shaxa_dev</a:t>
              </a:r>
            </a:p>
          </p:txBody>
        </p:sp>
        <p:sp>
          <p:nvSpPr>
            <p:cNvPr name="TextBox 7" id="7"/>
            <p:cNvSpPr txBox="true"/>
            <p:nvPr/>
          </p:nvSpPr>
          <p:spPr>
            <a:xfrm rot="0">
              <a:off x="52" y="2317746"/>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2C3E50"/>
                  </a:solidFill>
                  <a:latin typeface="Carlito"/>
                  <a:ea typeface="Carlito"/>
                  <a:cs typeface="Carlito"/>
                  <a:sym typeface="Carlito"/>
                </a:rPr>
                <a:t>TELEGRAM</a:t>
              </a:r>
            </a:p>
          </p:txBody>
        </p:sp>
        <p:sp>
          <p:nvSpPr>
            <p:cNvPr name="TextBox 8" id="8"/>
            <p:cNvSpPr txBox="true"/>
            <p:nvPr/>
          </p:nvSpPr>
          <p:spPr>
            <a:xfrm rot="0">
              <a:off x="52" y="2808811"/>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a:solidFill>
                    <a:srgbClr val="2980B9"/>
                  </a:solidFill>
                  <a:latin typeface="Radley"/>
                  <a:ea typeface="Radley"/>
                  <a:cs typeface="Radley"/>
                  <a:sym typeface="Radley"/>
                </a:rPr>
                <a:t>shaxa_dev</a:t>
              </a:r>
            </a:p>
          </p:txBody>
        </p:sp>
        <p:sp>
          <p:nvSpPr>
            <p:cNvPr name="TextBox 9" id="9"/>
            <p:cNvSpPr txBox="true"/>
            <p:nvPr/>
          </p:nvSpPr>
          <p:spPr>
            <a:xfrm rot="0">
              <a:off x="52" y="4610092"/>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2C3E50"/>
                  </a:solidFill>
                  <a:latin typeface="Carlito"/>
                  <a:ea typeface="Carlito"/>
                  <a:cs typeface="Carlito"/>
                  <a:sym typeface="Carlito"/>
                </a:rPr>
                <a:t>YOUTUBE</a:t>
              </a:r>
            </a:p>
          </p:txBody>
        </p:sp>
        <p:sp>
          <p:nvSpPr>
            <p:cNvPr name="TextBox 10" id="10"/>
            <p:cNvSpPr txBox="true"/>
            <p:nvPr/>
          </p:nvSpPr>
          <p:spPr>
            <a:xfrm rot="0">
              <a:off x="52" y="5101157"/>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a:solidFill>
                    <a:srgbClr val="2980B9"/>
                  </a:solidFill>
                  <a:latin typeface="Radley"/>
                  <a:ea typeface="Radley"/>
                  <a:cs typeface="Radley"/>
                  <a:sym typeface="Radley"/>
                </a:rPr>
                <a:t>sahxa_dev</a:t>
              </a:r>
            </a:p>
          </p:txBody>
        </p:sp>
      </p:grpSp>
      <p:grpSp>
        <p:nvGrpSpPr>
          <p:cNvPr name="Group 11" id="11"/>
          <p:cNvGrpSpPr/>
          <p:nvPr/>
        </p:nvGrpSpPr>
        <p:grpSpPr>
          <a:xfrm rot="0">
            <a:off x="666750" y="3617244"/>
            <a:ext cx="8324850" cy="2604450"/>
            <a:chOff x="0" y="0"/>
            <a:chExt cx="11099800" cy="3472600"/>
          </a:xfrm>
        </p:grpSpPr>
        <p:sp>
          <p:nvSpPr>
            <p:cNvPr name="TextBox 12" id="12"/>
            <p:cNvSpPr txBox="true"/>
            <p:nvPr/>
          </p:nvSpPr>
          <p:spPr>
            <a:xfrm rot="0">
              <a:off x="49111" y="2114121"/>
              <a:ext cx="11050689" cy="1358479"/>
            </a:xfrm>
            <a:prstGeom prst="rect">
              <a:avLst/>
            </a:prstGeom>
          </p:spPr>
          <p:txBody>
            <a:bodyPr anchor="t" rtlCol="false" tIns="0" lIns="0" bIns="0" rIns="0">
              <a:spAutoFit/>
            </a:bodyPr>
            <a:lstStyle/>
            <a:p>
              <a:pPr algn="l" marL="0" indent="0" lvl="0">
                <a:lnSpc>
                  <a:spcPts val="7840"/>
                </a:lnSpc>
              </a:pPr>
            </a:p>
          </p:txBody>
        </p:sp>
        <p:sp>
          <p:nvSpPr>
            <p:cNvPr name="TextBox 13" id="13"/>
            <p:cNvSpPr txBox="true"/>
            <p:nvPr/>
          </p:nvSpPr>
          <p:spPr>
            <a:xfrm rot="0">
              <a:off x="0" y="152400"/>
              <a:ext cx="11050689" cy="1448641"/>
            </a:xfrm>
            <a:prstGeom prst="rect">
              <a:avLst/>
            </a:prstGeom>
          </p:spPr>
          <p:txBody>
            <a:bodyPr anchor="t" rtlCol="false" tIns="0" lIns="0" bIns="0" rIns="0">
              <a:spAutoFit/>
            </a:bodyPr>
            <a:lstStyle/>
            <a:p>
              <a:pPr algn="l" marL="0" indent="0" lvl="0">
                <a:lnSpc>
                  <a:spcPts val="7899"/>
                </a:lnSpc>
              </a:pPr>
              <a:r>
                <a:rPr lang="en-US" sz="7899" i="true" u="none">
                  <a:solidFill>
                    <a:srgbClr val="2980B9"/>
                  </a:solidFill>
                  <a:latin typeface="Radley Italics"/>
                  <a:ea typeface="Radley Italics"/>
                  <a:cs typeface="Radley Italics"/>
                  <a:sym typeface="Radley Italics"/>
                </a:rPr>
                <a:t>Aloqa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KPI, Metrics, Dimensions</dc:description>
  <dc:identifier>DAG6wYpWJIw</dc:identifier>
  <dcterms:modified xsi:type="dcterms:W3CDTF">2011-08-01T06:04:30Z</dcterms:modified>
  <cp:revision>1</cp:revision>
  <dc:title>w1-3</dc:title>
</cp:coreProperties>
</file>